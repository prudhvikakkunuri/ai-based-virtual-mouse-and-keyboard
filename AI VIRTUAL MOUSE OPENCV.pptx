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embeddedFontLst>
    <p:embeddedFont>
      <p:font typeface="Roboto Serif"/>
      <p:regular r:id="rId20"/>
      <p:bold r:id="rId21"/>
      <p:italic r:id="rId22"/>
      <p:boldItalic r:id="rId23"/>
    </p:embeddedFont>
    <p:embeddedFont>
      <p:font typeface="Roboto Serif ExtraBold"/>
      <p:bold r:id="rId24"/>
      <p:boldItalic r:id="rId25"/>
    </p:embeddedFont>
    <p:embeddedFont>
      <p:font typeface="Lato Black"/>
      <p:bold r:id="rId26"/>
      <p:boldItalic r:id="rId27"/>
    </p:embeddedFont>
    <p:embeddedFont>
      <p:font typeface="Roboto Serif Medium"/>
      <p:regular r:id="rId28"/>
      <p:bold r:id="rId29"/>
      <p:italic r:id="rId30"/>
      <p:boldItalic r:id="rId31"/>
    </p:embeddedFont>
    <p:embeddedFont>
      <p:font typeface="Roboto Serif Black"/>
      <p:bold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Serif-regular.fntdata"/><Relationship Id="rId22" Type="http://schemas.openxmlformats.org/officeDocument/2006/relationships/font" Target="fonts/RobotoSerif-italic.fntdata"/><Relationship Id="rId21" Type="http://schemas.openxmlformats.org/officeDocument/2006/relationships/font" Target="fonts/RobotoSerif-bold.fntdata"/><Relationship Id="rId24" Type="http://schemas.openxmlformats.org/officeDocument/2006/relationships/font" Target="fonts/RobotoSerifExtraBold-bold.fntdata"/><Relationship Id="rId23" Type="http://schemas.openxmlformats.org/officeDocument/2006/relationships/font" Target="fonts/RobotoSerif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atoBlack-bold.fntdata"/><Relationship Id="rId25" Type="http://schemas.openxmlformats.org/officeDocument/2006/relationships/font" Target="fonts/RobotoSerifExtraBold-boldItalic.fntdata"/><Relationship Id="rId28" Type="http://schemas.openxmlformats.org/officeDocument/2006/relationships/font" Target="fonts/RobotoSerifMedium-regular.fntdata"/><Relationship Id="rId27" Type="http://schemas.openxmlformats.org/officeDocument/2006/relationships/font" Target="fonts/LatoBlack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SerifMedium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SerifMedium-boldItalic.fntdata"/><Relationship Id="rId30" Type="http://schemas.openxmlformats.org/officeDocument/2006/relationships/font" Target="fonts/RobotoSerifMedium-italic.fntdata"/><Relationship Id="rId11" Type="http://schemas.openxmlformats.org/officeDocument/2006/relationships/slide" Target="slides/slide7.xml"/><Relationship Id="rId33" Type="http://schemas.openxmlformats.org/officeDocument/2006/relationships/font" Target="fonts/RobotoSerifBlack-boldItalic.fntdata"/><Relationship Id="rId10" Type="http://schemas.openxmlformats.org/officeDocument/2006/relationships/slide" Target="slides/slide6.xml"/><Relationship Id="rId32" Type="http://schemas.openxmlformats.org/officeDocument/2006/relationships/font" Target="fonts/RobotoSerifBlack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7e3095395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7e3095395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c7e3095395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7e4faf47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c7e4faf47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9" name="Google Shape;17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c7e3095395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6" name="Google Shape;186;g3c7e3095395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prudhvikakkunuri.github.io" TargetMode="External"/><Relationship Id="rId4" Type="http://schemas.openxmlformats.org/officeDocument/2006/relationships/hyperlink" Target="http://www.linkedin.com/in/prudhvi-k-387257222" TargetMode="External"/><Relationship Id="rId5" Type="http://schemas.openxmlformats.org/officeDocument/2006/relationships/hyperlink" Target="https://github.com/prudhvikakkunuri" TargetMode="External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hyperlink" Target="http://drive.google.com/file/d/1RUUcEmq7dSCoKD6XL5980cUaI20fQqRK/view" TargetMode="External"/><Relationship Id="rId5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770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2472905" y="3793401"/>
            <a:ext cx="72462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>
                <a:solidFill>
                  <a:srgbClr val="0C0C0C"/>
                </a:solidFill>
                <a:latin typeface="Roboto Serif ExtraBold"/>
                <a:ea typeface="Roboto Serif ExtraBold"/>
                <a:cs typeface="Roboto Serif ExtraBold"/>
                <a:sym typeface="Roboto Serif ExtraBold"/>
              </a:rPr>
              <a:t>VIRTUAL MOUSE AND KEYBOARD</a:t>
            </a:r>
            <a:endParaRPr sz="320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247075" y="5670625"/>
            <a:ext cx="4585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0C0C0C"/>
                </a:solidFill>
                <a:latin typeface="Roboto Serif"/>
                <a:ea typeface="Roboto Serif"/>
                <a:cs typeface="Roboto Serif"/>
                <a:sym typeface="Roboto Serif"/>
              </a:rPr>
              <a:t>Kakunuri Prudhvi</a:t>
            </a:r>
            <a:endParaRPr b="1"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0C0C0C"/>
                </a:solidFill>
                <a:latin typeface="Roboto Serif"/>
                <a:ea typeface="Roboto Serif"/>
                <a:cs typeface="Roboto Serif"/>
                <a:sym typeface="Roboto Serif"/>
              </a:rPr>
              <a:t>BATCH NO:436</a:t>
            </a:r>
            <a:endParaRPr b="1"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0C0C0C"/>
                </a:solidFill>
                <a:latin typeface="Roboto Serif"/>
                <a:ea typeface="Roboto Serif"/>
                <a:cs typeface="Roboto Serif"/>
                <a:sym typeface="Roboto Serif"/>
              </a:rPr>
              <a:t>Innomatics Research Labs, Dilsukhnagar</a:t>
            </a:r>
            <a:endParaRPr b="1" sz="1800">
              <a:solidFill>
                <a:srgbClr val="0C0C0C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/>
        </p:nvSpPr>
        <p:spPr>
          <a:xfrm>
            <a:off x="728475" y="707100"/>
            <a:ext cx="27036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900">
                <a:solidFill>
                  <a:srgbClr val="CC0000"/>
                </a:solidFill>
                <a:latin typeface="Roboto Serif ExtraBold"/>
                <a:ea typeface="Roboto Serif ExtraBold"/>
                <a:cs typeface="Roboto Serif ExtraBold"/>
                <a:sym typeface="Roboto Serif ExtraBold"/>
              </a:rPr>
              <a:t>About me:</a:t>
            </a:r>
            <a:endParaRPr sz="2900">
              <a:solidFill>
                <a:srgbClr val="CC0000"/>
              </a:solidFill>
              <a:latin typeface="Roboto Serif ExtraBold"/>
              <a:ea typeface="Roboto Serif ExtraBold"/>
              <a:cs typeface="Roboto Serif ExtraBold"/>
              <a:sym typeface="Roboto Serif ExtraBold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222450" y="1470950"/>
            <a:ext cx="11747100" cy="42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6050" lIns="126050" spcFirstLastPara="1" rIns="126050" wrap="square" tIns="126050">
            <a:normAutofit lnSpcReduction="10000"/>
          </a:bodyPr>
          <a:lstStyle/>
          <a:p>
            <a:pPr indent="-387051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5"/>
              <a:buFont typeface="Roboto Serif Medium"/>
              <a:buChar char="➔"/>
            </a:pPr>
            <a:r>
              <a:rPr lang="en-IN" sz="2495">
                <a:latin typeface="Roboto Serif Medium"/>
                <a:ea typeface="Roboto Serif Medium"/>
                <a:cs typeface="Roboto Serif Medium"/>
                <a:sym typeface="Roboto Serif Medium"/>
              </a:rPr>
              <a:t>I am </a:t>
            </a:r>
            <a:r>
              <a:rPr b="1" lang="en-IN" sz="2495">
                <a:latin typeface="Roboto Serif"/>
                <a:ea typeface="Roboto Serif"/>
                <a:cs typeface="Roboto Serif"/>
                <a:sym typeface="Roboto Serif"/>
              </a:rPr>
              <a:t>K. Prudhvi</a:t>
            </a:r>
            <a:endParaRPr b="1" sz="2495"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87051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495"/>
              <a:buFont typeface="Roboto Serif Medium"/>
              <a:buChar char="➔"/>
            </a:pPr>
            <a:r>
              <a:rPr lang="en-IN" sz="2495">
                <a:latin typeface="Roboto Serif Medium"/>
                <a:ea typeface="Roboto Serif Medium"/>
                <a:cs typeface="Roboto Serif Medium"/>
                <a:sym typeface="Roboto Serif Medium"/>
              </a:rPr>
              <a:t>I am a Computer Science Engineering graduate from Aurora’s Scientific and Technological Institute.</a:t>
            </a:r>
            <a:endParaRPr sz="2495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87051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495"/>
              <a:buFont typeface="Roboto Serif Medium"/>
              <a:buChar char="➔"/>
            </a:pPr>
            <a:r>
              <a:rPr lang="en-IN" sz="2495">
                <a:latin typeface="Roboto Serif Medium"/>
                <a:ea typeface="Roboto Serif Medium"/>
                <a:cs typeface="Roboto Serif Medium"/>
                <a:sym typeface="Roboto Serif Medium"/>
              </a:rPr>
              <a:t>I see Data Science &amp; AI as the future of Technologies and Businesses.</a:t>
            </a:r>
            <a:endParaRPr sz="2495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87051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495"/>
              <a:buFont typeface="Roboto Serif"/>
              <a:buChar char="➔"/>
            </a:pPr>
            <a:r>
              <a:rPr b="1" lang="en-IN" sz="2495">
                <a:latin typeface="Roboto Serif"/>
                <a:ea typeface="Roboto Serif"/>
                <a:cs typeface="Roboto Serif"/>
                <a:sym typeface="Roboto Serif"/>
              </a:rPr>
              <a:t>Portfolio Website: </a:t>
            </a:r>
            <a:r>
              <a:rPr lang="en-IN" sz="2495" u="sng">
                <a:solidFill>
                  <a:schemeClr val="hlink"/>
                </a:solidFill>
                <a:latin typeface="Roboto Serif"/>
                <a:ea typeface="Roboto Serif"/>
                <a:cs typeface="Roboto Serif"/>
                <a:sym typeface="Roboto Serif"/>
                <a:hlinkClick r:id="rId3"/>
              </a:rPr>
              <a:t>prudhvikakkunuri.github.io</a:t>
            </a:r>
            <a:endParaRPr sz="2495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87051" lvl="0" marL="4572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495"/>
              <a:buFont typeface="Roboto Serif Medium"/>
              <a:buChar char="➔"/>
            </a:pPr>
            <a:r>
              <a:rPr b="1" lang="en-IN" sz="2495">
                <a:latin typeface="Roboto Serif"/>
                <a:ea typeface="Roboto Serif"/>
                <a:cs typeface="Roboto Serif"/>
                <a:sym typeface="Roboto Serif"/>
              </a:rPr>
              <a:t>LinkedIn</a:t>
            </a:r>
            <a:r>
              <a:rPr lang="en-IN" sz="2495">
                <a:latin typeface="Roboto Serif Medium"/>
                <a:ea typeface="Roboto Serif Medium"/>
                <a:cs typeface="Roboto Serif Medium"/>
                <a:sym typeface="Roboto Serif Medium"/>
              </a:rPr>
              <a:t>: </a:t>
            </a:r>
            <a:r>
              <a:rPr lang="en-IN" sz="2495" u="sng">
                <a:solidFill>
                  <a:srgbClr val="3C78D8"/>
                </a:solidFill>
                <a:latin typeface="Roboto Serif"/>
                <a:ea typeface="Roboto Serif"/>
                <a:cs typeface="Roboto Serif"/>
                <a:sym typeface="Roboto Serif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www.linkedin.com/in/prudhvi-k-387257222 </a:t>
            </a:r>
            <a:endParaRPr sz="2495">
              <a:solidFill>
                <a:srgbClr val="3C78D8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87051" lvl="0" marL="45720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495"/>
              <a:buFont typeface="Roboto Serif Medium"/>
              <a:buChar char="➔"/>
            </a:pPr>
            <a:r>
              <a:rPr b="1" lang="en-IN" sz="2495">
                <a:latin typeface="Roboto Serif"/>
                <a:ea typeface="Roboto Serif"/>
                <a:cs typeface="Roboto Serif"/>
                <a:sym typeface="Roboto Serif"/>
              </a:rPr>
              <a:t>GitHub</a:t>
            </a:r>
            <a:r>
              <a:rPr lang="en-IN" sz="2495">
                <a:latin typeface="Roboto Serif Medium"/>
                <a:ea typeface="Roboto Serif Medium"/>
                <a:cs typeface="Roboto Serif Medium"/>
                <a:sym typeface="Roboto Serif Medium"/>
              </a:rPr>
              <a:t>: </a:t>
            </a:r>
            <a:r>
              <a:rPr lang="en-IN" sz="2495" u="sng">
                <a:solidFill>
                  <a:srgbClr val="3C78D8"/>
                </a:solidFill>
                <a:latin typeface="Roboto Serif"/>
                <a:ea typeface="Roboto Serif"/>
                <a:cs typeface="Roboto Serif"/>
                <a:sym typeface="Roboto Serif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https://github.com/prudhvikakkunuri</a:t>
            </a:r>
            <a:endParaRPr sz="2495">
              <a:solidFill>
                <a:srgbClr val="3C78D8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677945" y="1108803"/>
            <a:ext cx="10515600" cy="4678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IN" sz="2100"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 Serif"/>
              <a:buChar char="•"/>
            </a:pPr>
            <a:r>
              <a:rPr lang="en-IN" sz="2100">
                <a:latin typeface="Roboto Serif"/>
                <a:ea typeface="Roboto Serif"/>
                <a:cs typeface="Roboto Serif"/>
                <a:sym typeface="Roboto Serif"/>
              </a:rPr>
              <a:t>Problem Statement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 Serif"/>
              <a:buChar char="•"/>
            </a:pPr>
            <a:r>
              <a:rPr lang="en-IN" sz="2100">
                <a:latin typeface="Roboto Serif"/>
                <a:ea typeface="Roboto Serif"/>
                <a:cs typeface="Roboto Serif"/>
                <a:sym typeface="Roboto Serif"/>
              </a:rPr>
              <a:t>Objective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 Serif"/>
              <a:buChar char="•"/>
            </a:pPr>
            <a:r>
              <a:rPr lang="en-IN" sz="2100">
                <a:latin typeface="Roboto Serif"/>
                <a:ea typeface="Roboto Serif"/>
                <a:cs typeface="Roboto Serif"/>
                <a:sym typeface="Roboto Serif"/>
              </a:rPr>
              <a:t>Technologies Used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 Serif"/>
              <a:buChar char="•"/>
            </a:pPr>
            <a:r>
              <a:rPr lang="en-IN" sz="2100">
                <a:latin typeface="Roboto Serif"/>
                <a:ea typeface="Roboto Serif"/>
                <a:cs typeface="Roboto Serif"/>
                <a:sym typeface="Roboto Serif"/>
              </a:rPr>
              <a:t>Hand Tracking Module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 Serif"/>
              <a:buChar char="•"/>
            </a:pPr>
            <a:r>
              <a:rPr lang="en-IN" sz="2100">
                <a:latin typeface="Roboto Serif"/>
                <a:ea typeface="Roboto Serif"/>
                <a:cs typeface="Roboto Serif"/>
                <a:sym typeface="Roboto Serif"/>
              </a:rPr>
              <a:t>Features Implemented 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 Serif"/>
              <a:buChar char="•"/>
            </a:pPr>
            <a:r>
              <a:rPr lang="en-IN" sz="2100">
                <a:latin typeface="Roboto Serif"/>
                <a:ea typeface="Roboto Serif"/>
                <a:cs typeface="Roboto Serif"/>
                <a:sym typeface="Roboto Serif"/>
              </a:rPr>
              <a:t>Advantages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 Serif"/>
              <a:buChar char="•"/>
            </a:pPr>
            <a:r>
              <a:rPr lang="en-IN" sz="2100">
                <a:latin typeface="Roboto Serif"/>
                <a:ea typeface="Roboto Serif"/>
                <a:cs typeface="Roboto Serif"/>
                <a:sym typeface="Roboto Serif"/>
              </a:rPr>
              <a:t>Limitations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 Serif"/>
              <a:buChar char="•"/>
            </a:pPr>
            <a:r>
              <a:rPr lang="en-IN" sz="2100">
                <a:latin typeface="Roboto Serif"/>
                <a:ea typeface="Roboto Serif"/>
                <a:cs typeface="Roboto Serif"/>
                <a:sym typeface="Roboto Serif"/>
              </a:rPr>
              <a:t>Conclusion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4843200" y="523373"/>
            <a:ext cx="2857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CC0000"/>
                </a:solidFill>
                <a:latin typeface="Roboto Serif"/>
                <a:ea typeface="Roboto Serif"/>
                <a:cs typeface="Roboto Serif"/>
                <a:sym typeface="Roboto Serif"/>
              </a:rPr>
              <a:t>CONTENTS</a:t>
            </a:r>
            <a:endParaRPr b="1" sz="3200">
              <a:solidFill>
                <a:srgbClr val="CC0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idx="1" type="body"/>
          </p:nvPr>
        </p:nvSpPr>
        <p:spPr>
          <a:xfrm>
            <a:off x="838200" y="1825625"/>
            <a:ext cx="10515600" cy="44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765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100"/>
              <a:buFont typeface="Roboto Serif Medium"/>
              <a:buChar char="•"/>
            </a:pPr>
            <a:r>
              <a:rPr lang="en-IN" sz="2100">
                <a:latin typeface="Roboto Serif Medium"/>
                <a:ea typeface="Roboto Serif Medium"/>
                <a:cs typeface="Roboto Serif Medium"/>
                <a:sym typeface="Roboto Serif Medium"/>
              </a:rPr>
              <a:t>This project develops a real-time Virtual Mouse and Keyboard using hand gesture recognition.</a:t>
            </a:r>
            <a:endParaRPr sz="21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24765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100"/>
              <a:buFont typeface="Roboto Serif Medium"/>
              <a:buChar char="•"/>
            </a:pPr>
            <a:r>
              <a:rPr lang="en-IN" sz="2100">
                <a:latin typeface="Roboto Serif Medium"/>
                <a:ea typeface="Roboto Serif Medium"/>
                <a:cs typeface="Roboto Serif Medium"/>
                <a:sym typeface="Roboto Serif Medium"/>
              </a:rPr>
              <a:t>It enables users to control cursor movement, clicks, and typing without physical input devices.</a:t>
            </a:r>
            <a:endParaRPr sz="21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 Serif Medium"/>
              <a:buChar char="•"/>
            </a:pPr>
            <a:r>
              <a:rPr lang="en-IN" sz="2100">
                <a:latin typeface="Roboto Serif Medium"/>
                <a:ea typeface="Roboto Serif Medium"/>
                <a:cs typeface="Roboto Serif Medium"/>
                <a:sym typeface="Roboto Serif Medium"/>
              </a:rPr>
              <a:t>The system uses Computer Vision (OpenCV &amp; MediaPipe) to provide touchless and intuitive human–computer interaction.</a:t>
            </a:r>
            <a:endParaRPr sz="2100"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4008751" y="762278"/>
            <a:ext cx="4174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Times New Roman"/>
              <a:buNone/>
            </a:pPr>
            <a:r>
              <a:rPr b="1" lang="en-IN" sz="3200">
                <a:solidFill>
                  <a:srgbClr val="CC0000"/>
                </a:solidFill>
                <a:latin typeface="Roboto Serif"/>
                <a:ea typeface="Roboto Serif"/>
                <a:cs typeface="Roboto Serif"/>
                <a:sym typeface="Roboto Serif"/>
              </a:rPr>
              <a:t>INTRODUCTION</a:t>
            </a:r>
            <a:endParaRPr b="1">
              <a:solidFill>
                <a:srgbClr val="CC0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>
            <p:ph idx="1" type="body"/>
          </p:nvPr>
        </p:nvSpPr>
        <p:spPr>
          <a:xfrm>
            <a:off x="492400" y="1144200"/>
            <a:ext cx="10590300" cy="5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latin typeface="Roboto Serif Medium"/>
                <a:ea typeface="Roboto Serif Medium"/>
                <a:cs typeface="Roboto Serif Medium"/>
                <a:sym typeface="Roboto Serif Medium"/>
              </a:rPr>
              <a:t>Traditional computer interaction relies heavily on physical input devices such as a mouse and keyboard. However:</a:t>
            </a:r>
            <a:endParaRPr sz="18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SzPts val="1800"/>
              <a:buChar char="●"/>
            </a:pPr>
            <a:r>
              <a:rPr lang="en-IN" sz="1800">
                <a:latin typeface="Roboto Serif Medium"/>
                <a:ea typeface="Roboto Serif Medium"/>
                <a:cs typeface="Roboto Serif Medium"/>
                <a:sym typeface="Roboto Serif Medium"/>
              </a:rPr>
              <a:t>Physical devices require direct touch and surface support</a:t>
            </a:r>
            <a:br>
              <a:rPr lang="en-IN" sz="1800">
                <a:latin typeface="Roboto Serif Medium"/>
                <a:ea typeface="Roboto Serif Medium"/>
                <a:cs typeface="Roboto Serif Medium"/>
                <a:sym typeface="Roboto Serif Medium"/>
              </a:rPr>
            </a:br>
            <a:endParaRPr sz="18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 sz="1800">
                <a:latin typeface="Roboto Serif Medium"/>
                <a:ea typeface="Roboto Serif Medium"/>
                <a:cs typeface="Roboto Serif Medium"/>
                <a:sym typeface="Roboto Serif Medium"/>
              </a:rPr>
              <a:t>They are not accessible for individuals with mobility impairments</a:t>
            </a:r>
            <a:br>
              <a:rPr lang="en-IN" sz="1800">
                <a:latin typeface="Roboto Serif Medium"/>
                <a:ea typeface="Roboto Serif Medium"/>
                <a:cs typeface="Roboto Serif Medium"/>
                <a:sym typeface="Roboto Serif Medium"/>
              </a:rPr>
            </a:br>
            <a:endParaRPr sz="18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 sz="1800">
                <a:latin typeface="Roboto Serif Medium"/>
                <a:ea typeface="Roboto Serif Medium"/>
                <a:cs typeface="Roboto Serif Medium"/>
                <a:sym typeface="Roboto Serif Medium"/>
              </a:rPr>
              <a:t>In sterile environments (hospitals, labs), touch-based systems increase contamination risk</a:t>
            </a:r>
            <a:br>
              <a:rPr lang="en-IN" sz="1800">
                <a:latin typeface="Roboto Serif Medium"/>
                <a:ea typeface="Roboto Serif Medium"/>
                <a:cs typeface="Roboto Serif Medium"/>
                <a:sym typeface="Roboto Serif Medium"/>
              </a:rPr>
            </a:br>
            <a:endParaRPr sz="18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IN" sz="1800">
                <a:latin typeface="Roboto Serif Medium"/>
                <a:ea typeface="Roboto Serif Medium"/>
                <a:cs typeface="Roboto Serif Medium"/>
                <a:sym typeface="Roboto Serif Medium"/>
              </a:rPr>
              <a:t>During presentations or public displays, physical control devices limit mobility and flexibility</a:t>
            </a:r>
            <a:br>
              <a:rPr lang="en-IN" sz="1800">
                <a:latin typeface="Roboto Serif Medium"/>
                <a:ea typeface="Roboto Serif Medium"/>
                <a:cs typeface="Roboto Serif Medium"/>
                <a:sym typeface="Roboto Serif Medium"/>
              </a:rPr>
            </a:br>
            <a:endParaRPr sz="18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 Medium"/>
              <a:buChar char="●"/>
            </a:pPr>
            <a:r>
              <a:rPr lang="en-IN" sz="1800">
                <a:latin typeface="Roboto Serif Medium"/>
                <a:ea typeface="Roboto Serif Medium"/>
                <a:cs typeface="Roboto Serif Medium"/>
                <a:sym typeface="Roboto Serif Medium"/>
              </a:rPr>
              <a:t>Hardware failures (mouse/keyboard damage) interrupt productivity</a:t>
            </a:r>
            <a:endParaRPr sz="2727"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-537761" y="-80972"/>
            <a:ext cx="2648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i="0" sz="2000" u="none" cap="none" strike="noStrike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1758613" y="559198"/>
            <a:ext cx="8331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Times New Roman"/>
              <a:buNone/>
            </a:pPr>
            <a:r>
              <a:rPr b="1" lang="en-IN" sz="3200">
                <a:solidFill>
                  <a:srgbClr val="CC0000"/>
                </a:solidFill>
                <a:latin typeface="Roboto Serif"/>
                <a:ea typeface="Roboto Serif"/>
                <a:cs typeface="Roboto Serif"/>
                <a:sym typeface="Roboto Serif"/>
              </a:rPr>
              <a:t>PROBLEM STATEMENT</a:t>
            </a:r>
            <a:endParaRPr b="1" sz="3200">
              <a:solidFill>
                <a:srgbClr val="CC0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122" name="Google Shape;12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>
            <p:ph idx="1" type="body"/>
          </p:nvPr>
        </p:nvSpPr>
        <p:spPr>
          <a:xfrm>
            <a:off x="480767" y="836918"/>
            <a:ext cx="10872900" cy="56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n-IN" sz="2100">
                <a:latin typeface="Roboto Serif"/>
                <a:ea typeface="Roboto Serif"/>
                <a:cs typeface="Roboto Serif"/>
                <a:sym typeface="Roboto Serif"/>
              </a:rPr>
              <a:t>    Business Understanding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 Serif"/>
              <a:buChar char="•"/>
            </a:pPr>
            <a:r>
              <a:rPr lang="en-IN" sz="2100">
                <a:latin typeface="Roboto Serif"/>
                <a:ea typeface="Roboto Serif"/>
                <a:cs typeface="Roboto Serif"/>
                <a:sym typeface="Roboto Serif"/>
              </a:rPr>
              <a:t>Need a touch-free way to control computers in shared and hygiene-sensitive environments.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 Serif"/>
              <a:buChar char="•"/>
            </a:pPr>
            <a:r>
              <a:rPr lang="en-IN" sz="2100">
                <a:latin typeface="Roboto Serif"/>
                <a:ea typeface="Roboto Serif"/>
                <a:cs typeface="Roboto Serif"/>
                <a:sym typeface="Roboto Serif"/>
              </a:rPr>
              <a:t>Goal: Control mouse actions using hand gestures via a webcam.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952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2100"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n-IN" sz="2100">
                <a:latin typeface="Roboto Serif"/>
                <a:ea typeface="Roboto Serif"/>
                <a:cs typeface="Roboto Serif"/>
                <a:sym typeface="Roboto Serif"/>
              </a:rPr>
              <a:t>    Data Understanding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 Serif"/>
              <a:buChar char="•"/>
            </a:pPr>
            <a:r>
              <a:rPr lang="en-IN" sz="2100">
                <a:latin typeface="Roboto Serif"/>
                <a:ea typeface="Roboto Serif"/>
                <a:cs typeface="Roboto Serif"/>
                <a:sym typeface="Roboto Serif"/>
              </a:rPr>
              <a:t>Input data is real-time video frames from the webcam.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 Serif"/>
              <a:buChar char="•"/>
            </a:pPr>
            <a:r>
              <a:rPr lang="en-IN" sz="2100">
                <a:latin typeface="Roboto Serif"/>
                <a:ea typeface="Roboto Serif"/>
                <a:cs typeface="Roboto Serif"/>
                <a:sym typeface="Roboto Serif"/>
              </a:rPr>
              <a:t>Hand landmarks (21 key points) are extracted using MediaPipe.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952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2100"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b="1" lang="en-IN" sz="2100">
                <a:latin typeface="Roboto Serif"/>
                <a:ea typeface="Roboto Serif"/>
                <a:cs typeface="Roboto Serif"/>
                <a:sym typeface="Roboto Serif"/>
              </a:rPr>
              <a:t>    Data Preparation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 Serif"/>
              <a:buChar char="•"/>
            </a:pPr>
            <a:r>
              <a:rPr lang="en-IN" sz="2100">
                <a:latin typeface="Roboto Serif"/>
                <a:ea typeface="Roboto Serif"/>
                <a:cs typeface="Roboto Serif"/>
                <a:sym typeface="Roboto Serif"/>
              </a:rPr>
              <a:t>Preprocess frames (resize, RGB conversion).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 Serif"/>
              <a:buChar char="•"/>
            </a:pPr>
            <a:r>
              <a:rPr lang="en-IN" sz="2100">
                <a:latin typeface="Roboto Serif"/>
                <a:ea typeface="Roboto Serif"/>
                <a:cs typeface="Roboto Serif"/>
                <a:sym typeface="Roboto Serif"/>
              </a:rPr>
              <a:t>Filter detection using confidence thresholds.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 Serif"/>
              <a:buChar char="•"/>
            </a:pPr>
            <a:r>
              <a:rPr lang="en-IN" sz="2100">
                <a:latin typeface="Roboto Serif"/>
                <a:ea typeface="Roboto Serif"/>
                <a:cs typeface="Roboto Serif"/>
                <a:sym typeface="Roboto Serif"/>
              </a:rPr>
              <a:t>Define control frame and </a:t>
            </a:r>
            <a:r>
              <a:rPr lang="en-IN" sz="2100">
                <a:latin typeface="Roboto Serif"/>
                <a:ea typeface="Roboto Serif"/>
                <a:cs typeface="Roboto Serif"/>
                <a:sym typeface="Roboto Serif"/>
              </a:rPr>
              <a:t>normalized</a:t>
            </a:r>
            <a:r>
              <a:rPr lang="en-IN" sz="2100">
                <a:latin typeface="Roboto Serif"/>
                <a:ea typeface="Roboto Serif"/>
                <a:cs typeface="Roboto Serif"/>
                <a:sym typeface="Roboto Serif"/>
              </a:rPr>
              <a:t> coordinates.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 Serif"/>
              <a:buChar char="•"/>
            </a:pPr>
            <a:r>
              <a:rPr lang="en-IN" sz="2100">
                <a:latin typeface="Roboto Serif"/>
                <a:ea typeface="Roboto Serif"/>
                <a:cs typeface="Roboto Serif"/>
                <a:sym typeface="Roboto Serif"/>
              </a:rPr>
              <a:t>Remove noise using smoothening.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128" name="Google Shape;12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>
            <p:ph idx="1" type="body"/>
          </p:nvPr>
        </p:nvSpPr>
        <p:spPr>
          <a:xfrm>
            <a:off x="838200" y="748135"/>
            <a:ext cx="10515600" cy="56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IN" sz="2100">
                <a:latin typeface="Roboto Serif"/>
                <a:ea typeface="Roboto Serif"/>
                <a:cs typeface="Roboto Serif"/>
                <a:sym typeface="Roboto Serif"/>
              </a:rPr>
              <a:t>   </a:t>
            </a:r>
            <a:r>
              <a:rPr b="1" lang="en-IN" sz="2100">
                <a:latin typeface="Roboto Serif"/>
                <a:ea typeface="Roboto Serif"/>
                <a:cs typeface="Roboto Serif"/>
                <a:sym typeface="Roboto Serif"/>
              </a:rPr>
              <a:t>Modeling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 Serif"/>
              <a:buChar char="•"/>
            </a:pPr>
            <a:r>
              <a:rPr lang="en-IN" sz="2100">
                <a:latin typeface="Roboto Serif"/>
                <a:ea typeface="Roboto Serif"/>
                <a:cs typeface="Roboto Serif"/>
                <a:sym typeface="Roboto Serif"/>
              </a:rPr>
              <a:t>Use MediaPipe’s pre-trained hand tracking model.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 Serif"/>
              <a:buChar char="•"/>
            </a:pPr>
            <a:r>
              <a:rPr lang="en-IN" sz="2100">
                <a:latin typeface="Roboto Serif"/>
                <a:ea typeface="Roboto Serif"/>
                <a:cs typeface="Roboto Serif"/>
                <a:sym typeface="Roboto Serif"/>
              </a:rPr>
              <a:t>Implement gesture logic using finger states and distance thresholds.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 Serif"/>
              <a:buChar char="•"/>
            </a:pPr>
            <a:r>
              <a:rPr lang="en-IN" sz="2100">
                <a:latin typeface="Roboto Serif"/>
                <a:ea typeface="Roboto Serif"/>
                <a:cs typeface="Roboto Serif"/>
                <a:sym typeface="Roboto Serif"/>
              </a:rPr>
              <a:t>Map gestures to mouse actions (move, click, scroll, drag, screenshot).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952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2100"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IN" sz="2100">
                <a:latin typeface="Roboto Serif"/>
                <a:ea typeface="Roboto Serif"/>
                <a:cs typeface="Roboto Serif"/>
                <a:sym typeface="Roboto Serif"/>
              </a:rPr>
              <a:t>   </a:t>
            </a:r>
            <a:r>
              <a:rPr b="1" lang="en-IN" sz="2100">
                <a:latin typeface="Roboto Serif"/>
                <a:ea typeface="Roboto Serif"/>
                <a:cs typeface="Roboto Serif"/>
                <a:sym typeface="Roboto Serif"/>
              </a:rPr>
              <a:t>Evaluation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 Serif"/>
              <a:buChar char="•"/>
            </a:pPr>
            <a:r>
              <a:rPr lang="en-IN" sz="2100">
                <a:latin typeface="Roboto Serif"/>
                <a:ea typeface="Roboto Serif"/>
                <a:cs typeface="Roboto Serif"/>
                <a:sym typeface="Roboto Serif"/>
              </a:rPr>
              <a:t>Test gesture accuracy and response time.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 Serif"/>
              <a:buChar char="•"/>
            </a:pPr>
            <a:r>
              <a:rPr lang="en-IN" sz="2100">
                <a:latin typeface="Roboto Serif"/>
                <a:ea typeface="Roboto Serif"/>
                <a:cs typeface="Roboto Serif"/>
                <a:sym typeface="Roboto Serif"/>
              </a:rPr>
              <a:t>Measure FPS for real-time performance.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 Serif"/>
              <a:buChar char="•"/>
            </a:pPr>
            <a:r>
              <a:rPr lang="en-IN" sz="2100">
                <a:latin typeface="Roboto Serif"/>
                <a:ea typeface="Roboto Serif"/>
                <a:cs typeface="Roboto Serif"/>
                <a:sym typeface="Roboto Serif"/>
              </a:rPr>
              <a:t>Validate usability under different lighting and backgrounds.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952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2100"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IN" sz="2100">
                <a:latin typeface="Roboto Serif"/>
                <a:ea typeface="Roboto Serif"/>
                <a:cs typeface="Roboto Serif"/>
                <a:sym typeface="Roboto Serif"/>
              </a:rPr>
              <a:t>   </a:t>
            </a:r>
            <a:r>
              <a:rPr b="1" lang="en-IN" sz="2100">
                <a:latin typeface="Roboto Serif"/>
                <a:ea typeface="Roboto Serif"/>
                <a:cs typeface="Roboto Serif"/>
                <a:sym typeface="Roboto Serif"/>
              </a:rPr>
              <a:t>Deployment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 Serif"/>
              <a:buChar char="•"/>
            </a:pPr>
            <a:r>
              <a:rPr lang="en-IN" sz="2100">
                <a:latin typeface="Roboto Serif"/>
                <a:ea typeface="Roboto Serif"/>
                <a:cs typeface="Roboto Serif"/>
                <a:sym typeface="Roboto Serif"/>
              </a:rPr>
              <a:t>Run the system as a real-time desktop application.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 Serif"/>
              <a:buChar char="•"/>
            </a:pPr>
            <a:r>
              <a:rPr lang="en-IN" sz="2100">
                <a:latin typeface="Roboto Serif"/>
                <a:ea typeface="Roboto Serif"/>
                <a:cs typeface="Roboto Serif"/>
                <a:sym typeface="Roboto Serif"/>
              </a:rPr>
              <a:t>Share code with requirements.txt for easy setup.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 Serif"/>
              <a:buChar char="•"/>
            </a:pPr>
            <a:r>
              <a:rPr lang="en-IN" sz="2100">
                <a:latin typeface="Roboto Serif"/>
                <a:ea typeface="Roboto Serif"/>
                <a:cs typeface="Roboto Serif"/>
                <a:sym typeface="Roboto Serif"/>
              </a:rPr>
              <a:t>Can be packaged as a lightweight tool for daily use.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134" name="Google Shape;13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idx="1" type="body"/>
          </p:nvPr>
        </p:nvSpPr>
        <p:spPr>
          <a:xfrm>
            <a:off x="838200" y="1932494"/>
            <a:ext cx="10515600" cy="3525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b="1" lang="en-IN" sz="2100">
                <a:latin typeface="Roboto Serif"/>
                <a:ea typeface="Roboto Serif"/>
                <a:cs typeface="Roboto Serif"/>
                <a:sym typeface="Roboto Serif"/>
              </a:rPr>
              <a:t>Python</a:t>
            </a:r>
            <a:r>
              <a:rPr lang="en-IN" sz="2100">
                <a:latin typeface="Roboto Serif"/>
                <a:ea typeface="Roboto Serif"/>
                <a:cs typeface="Roboto Serif"/>
                <a:sym typeface="Roboto Serif"/>
              </a:rPr>
              <a:t> – Programming language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b="1" lang="en-IN" sz="2100">
                <a:latin typeface="Roboto Serif"/>
                <a:ea typeface="Roboto Serif"/>
                <a:cs typeface="Roboto Serif"/>
                <a:sym typeface="Roboto Serif"/>
              </a:rPr>
              <a:t>OpenCV</a:t>
            </a:r>
            <a:r>
              <a:rPr lang="en-IN" sz="2100">
                <a:latin typeface="Roboto Serif"/>
                <a:ea typeface="Roboto Serif"/>
                <a:cs typeface="Roboto Serif"/>
                <a:sym typeface="Roboto Serif"/>
              </a:rPr>
              <a:t> – Camera handling &amp; UI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b="1" lang="en-IN" sz="2100">
                <a:latin typeface="Roboto Serif"/>
                <a:ea typeface="Roboto Serif"/>
                <a:cs typeface="Roboto Serif"/>
                <a:sym typeface="Roboto Serif"/>
              </a:rPr>
              <a:t>MediaPipe</a:t>
            </a:r>
            <a:r>
              <a:rPr lang="en-IN" sz="2100">
                <a:latin typeface="Roboto Serif"/>
                <a:ea typeface="Roboto Serif"/>
                <a:cs typeface="Roboto Serif"/>
                <a:sym typeface="Roboto Serif"/>
              </a:rPr>
              <a:t> – AI-based hand tracking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b="1" lang="en-IN" sz="2100">
                <a:latin typeface="Roboto Serif"/>
                <a:ea typeface="Roboto Serif"/>
                <a:cs typeface="Roboto Serif"/>
                <a:sym typeface="Roboto Serif"/>
              </a:rPr>
              <a:t>NumPy</a:t>
            </a:r>
            <a:r>
              <a:rPr lang="en-IN" sz="2100">
                <a:latin typeface="Roboto Serif"/>
                <a:ea typeface="Roboto Serif"/>
                <a:cs typeface="Roboto Serif"/>
                <a:sym typeface="Roboto Serif"/>
              </a:rPr>
              <a:t> – Mathematical mapping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b="1" lang="en-IN" sz="2100">
                <a:latin typeface="Roboto Serif"/>
                <a:ea typeface="Roboto Serif"/>
                <a:cs typeface="Roboto Serif"/>
                <a:sym typeface="Roboto Serif"/>
              </a:rPr>
              <a:t>AutoPy</a:t>
            </a:r>
            <a:r>
              <a:rPr lang="en-IN" sz="2100">
                <a:latin typeface="Roboto Serif"/>
                <a:ea typeface="Roboto Serif"/>
                <a:cs typeface="Roboto Serif"/>
                <a:sym typeface="Roboto Serif"/>
              </a:rPr>
              <a:t> – Mouse movement &amp; click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1758613" y="559198"/>
            <a:ext cx="8331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Times New Roman"/>
              <a:buNone/>
            </a:pPr>
            <a:r>
              <a:rPr b="1" lang="en-IN" sz="3200">
                <a:solidFill>
                  <a:srgbClr val="CC0000"/>
                </a:solidFill>
                <a:latin typeface="Roboto Serif"/>
                <a:ea typeface="Roboto Serif"/>
                <a:cs typeface="Roboto Serif"/>
                <a:sym typeface="Roboto Serif"/>
              </a:rPr>
              <a:t>TECHNOLOGIES USED</a:t>
            </a:r>
            <a:endParaRPr b="1" sz="3200">
              <a:solidFill>
                <a:srgbClr val="CC0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141" name="Google Shape;14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idx="1" type="body"/>
          </p:nvPr>
        </p:nvSpPr>
        <p:spPr>
          <a:xfrm>
            <a:off x="838200" y="1564849"/>
            <a:ext cx="10515600" cy="461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 Serif"/>
              <a:buChar char="•"/>
            </a:pPr>
            <a:r>
              <a:rPr lang="en-IN" sz="2000">
                <a:latin typeface="Roboto Serif"/>
                <a:ea typeface="Roboto Serif"/>
                <a:cs typeface="Roboto Serif"/>
                <a:sym typeface="Roboto Serif"/>
              </a:rPr>
              <a:t>Tracks finger positions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 Serif"/>
              <a:buChar char="•"/>
            </a:pPr>
            <a:r>
              <a:rPr lang="en-IN" sz="2000">
                <a:latin typeface="Roboto Serif"/>
                <a:ea typeface="Roboto Serif"/>
                <a:cs typeface="Roboto Serif"/>
                <a:sym typeface="Roboto Serif"/>
              </a:rPr>
              <a:t>Identifies index finger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 Serif"/>
              <a:buChar char="•"/>
            </a:pPr>
            <a:r>
              <a:rPr lang="en-IN" sz="2000">
                <a:latin typeface="Roboto Serif"/>
                <a:ea typeface="Roboto Serif"/>
                <a:cs typeface="Roboto Serif"/>
                <a:sym typeface="Roboto Serif"/>
              </a:rPr>
              <a:t>Calculates distance between fingers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b="1" lang="en-IN" sz="2000">
                <a:latin typeface="Roboto Serif"/>
                <a:ea typeface="Roboto Serif"/>
                <a:cs typeface="Roboto Serif"/>
                <a:sym typeface="Roboto Serif"/>
              </a:rPr>
              <a:t>Example: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 Serif"/>
              <a:buChar char="•"/>
            </a:pPr>
            <a:r>
              <a:rPr lang="en-IN" sz="2000">
                <a:latin typeface="Roboto Serif"/>
                <a:ea typeface="Roboto Serif"/>
                <a:cs typeface="Roboto Serif"/>
                <a:sym typeface="Roboto Serif"/>
              </a:rPr>
              <a:t>Index finger tip → Cursor movement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 Serif"/>
              <a:buChar char="•"/>
            </a:pPr>
            <a:r>
              <a:rPr lang="en-IN" sz="2000">
                <a:latin typeface="Roboto Serif"/>
                <a:ea typeface="Roboto Serif"/>
                <a:cs typeface="Roboto Serif"/>
                <a:sym typeface="Roboto Serif"/>
              </a:rPr>
              <a:t>Thumb + Index distance → Click</a:t>
            </a:r>
            <a:endParaRPr sz="2000"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Roboto Serif"/>
              <a:buChar char="•"/>
            </a:pPr>
            <a:r>
              <a:rPr lang="en-IN" sz="2000">
                <a:latin typeface="Roboto Serif"/>
                <a:ea typeface="Roboto Serif"/>
                <a:cs typeface="Roboto Serif"/>
                <a:sym typeface="Roboto Serif"/>
              </a:rPr>
              <a:t>Index Finger </a:t>
            </a:r>
            <a:r>
              <a:rPr lang="en-IN" sz="2000">
                <a:latin typeface="Roboto Serif"/>
                <a:ea typeface="Roboto Serif"/>
                <a:cs typeface="Roboto Serif"/>
                <a:sym typeface="Roboto Serif"/>
              </a:rPr>
              <a:t>Punch</a:t>
            </a:r>
            <a:r>
              <a:rPr lang="en-IN" sz="2000"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lang="en-IN" sz="2000">
                <a:latin typeface="Roboto Serif"/>
                <a:ea typeface="Roboto Serif"/>
                <a:cs typeface="Roboto Serif"/>
                <a:sym typeface="Roboto Serif"/>
              </a:rPr>
              <a:t>→(To type Text)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7" name="Google Shape;147;p21"/>
          <p:cNvSpPr txBox="1"/>
          <p:nvPr/>
        </p:nvSpPr>
        <p:spPr>
          <a:xfrm>
            <a:off x="1758613" y="559198"/>
            <a:ext cx="8331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Times New Roman"/>
              <a:buNone/>
            </a:pPr>
            <a:r>
              <a:rPr b="1" lang="en-IN" sz="3200">
                <a:solidFill>
                  <a:srgbClr val="CC0000"/>
                </a:solidFill>
                <a:latin typeface="Roboto Serif"/>
                <a:ea typeface="Roboto Serif"/>
                <a:cs typeface="Roboto Serif"/>
                <a:sym typeface="Roboto Serif"/>
              </a:rPr>
              <a:t>HAND TRACKING MODULE</a:t>
            </a:r>
            <a:endParaRPr b="1" sz="3200">
              <a:solidFill>
                <a:srgbClr val="CC0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838200" y="1253765"/>
            <a:ext cx="10515600" cy="42514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Serif"/>
              <a:buChar char="•"/>
            </a:pPr>
            <a:r>
              <a:rPr lang="en-IN" sz="2400">
                <a:latin typeface="Roboto Serif"/>
                <a:ea typeface="Roboto Serif"/>
                <a:cs typeface="Roboto Serif"/>
                <a:sym typeface="Roboto Serif"/>
              </a:rPr>
              <a:t>Real-time hand tracking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Serif"/>
              <a:buChar char="•"/>
            </a:pPr>
            <a:r>
              <a:rPr lang="en-IN" sz="2400">
                <a:latin typeface="Roboto Serif"/>
                <a:ea typeface="Roboto Serif"/>
                <a:cs typeface="Roboto Serif"/>
                <a:sym typeface="Roboto Serif"/>
              </a:rPr>
              <a:t>Touchless mouse movement</a:t>
            </a:r>
            <a:endParaRPr sz="2400"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 Serif"/>
              <a:buChar char="•"/>
            </a:pPr>
            <a:r>
              <a:rPr lang="en-IN" sz="2400">
                <a:latin typeface="Roboto Serif"/>
                <a:ea typeface="Roboto Serif"/>
                <a:cs typeface="Roboto Serif"/>
                <a:sym typeface="Roboto Serif"/>
              </a:rPr>
              <a:t>Click on keys by placing the finger</a:t>
            </a:r>
            <a:endParaRPr sz="2400"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Serif"/>
              <a:buChar char="•"/>
            </a:pPr>
            <a:r>
              <a:rPr lang="en-IN" sz="2400">
                <a:latin typeface="Roboto Serif"/>
                <a:ea typeface="Roboto Serif"/>
                <a:cs typeface="Roboto Serif"/>
                <a:sym typeface="Roboto Serif"/>
              </a:rPr>
              <a:t>Action feedback on screen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4" name="Google Shape;154;p22"/>
          <p:cNvSpPr txBox="1"/>
          <p:nvPr/>
        </p:nvSpPr>
        <p:spPr>
          <a:xfrm>
            <a:off x="1758613" y="559198"/>
            <a:ext cx="8331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Times New Roman"/>
              <a:buNone/>
            </a:pPr>
            <a:r>
              <a:rPr b="1" lang="en-IN" sz="3200">
                <a:solidFill>
                  <a:srgbClr val="CC0000"/>
                </a:solidFill>
                <a:latin typeface="Roboto Serif"/>
                <a:ea typeface="Roboto Serif"/>
                <a:cs typeface="Roboto Serif"/>
                <a:sym typeface="Roboto Serif"/>
              </a:rPr>
              <a:t>FEATURES IMPLEMENTED</a:t>
            </a:r>
            <a:endParaRPr b="1" sz="3200">
              <a:solidFill>
                <a:srgbClr val="CC0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3" title="CV_recording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23250" y="582368"/>
            <a:ext cx="9685298" cy="6067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>
            <p:ph idx="1" type="body"/>
          </p:nvPr>
        </p:nvSpPr>
        <p:spPr>
          <a:xfrm>
            <a:off x="838200" y="1753385"/>
            <a:ext cx="10515600" cy="44235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Serif"/>
              <a:buChar char="•"/>
            </a:pPr>
            <a:r>
              <a:rPr lang="en-IN" sz="2400">
                <a:latin typeface="Roboto Serif"/>
                <a:ea typeface="Roboto Serif"/>
                <a:cs typeface="Roboto Serif"/>
                <a:sym typeface="Roboto Serif"/>
              </a:rPr>
              <a:t>Contactless interaction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Serif"/>
              <a:buChar char="•"/>
            </a:pPr>
            <a:r>
              <a:rPr lang="en-IN" sz="2400">
                <a:latin typeface="Roboto Serif"/>
                <a:ea typeface="Roboto Serif"/>
                <a:cs typeface="Roboto Serif"/>
                <a:sym typeface="Roboto Serif"/>
              </a:rPr>
              <a:t>Useful for hygiene environments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Serif"/>
              <a:buChar char="•"/>
            </a:pPr>
            <a:r>
              <a:rPr lang="en-IN" sz="2400">
                <a:latin typeface="Roboto Serif"/>
                <a:ea typeface="Roboto Serif"/>
                <a:cs typeface="Roboto Serif"/>
                <a:sym typeface="Roboto Serif"/>
              </a:rPr>
              <a:t>Accessibility support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Serif"/>
              <a:buChar char="•"/>
            </a:pPr>
            <a:r>
              <a:rPr lang="en-IN" sz="2400">
                <a:latin typeface="Roboto Serif"/>
                <a:ea typeface="Roboto Serif"/>
                <a:cs typeface="Roboto Serif"/>
                <a:sym typeface="Roboto Serif"/>
              </a:rPr>
              <a:t>No external hardware required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Serif"/>
              <a:buChar char="•"/>
            </a:pPr>
            <a:r>
              <a:rPr lang="en-IN" sz="2400">
                <a:latin typeface="Roboto Serif"/>
                <a:ea typeface="Roboto Serif"/>
                <a:cs typeface="Roboto Serif"/>
                <a:sym typeface="Roboto Serif"/>
              </a:rPr>
              <a:t>Cost-effective solution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1758613" y="559198"/>
            <a:ext cx="8331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Times New Roman"/>
              <a:buNone/>
            </a:pPr>
            <a:r>
              <a:rPr b="1" lang="en-IN" sz="3200">
                <a:solidFill>
                  <a:srgbClr val="CC0000"/>
                </a:solidFill>
                <a:latin typeface="Roboto Serif"/>
                <a:ea typeface="Roboto Serif"/>
                <a:cs typeface="Roboto Serif"/>
                <a:sym typeface="Roboto Serif"/>
              </a:rPr>
              <a:t>ADVANTAGES</a:t>
            </a:r>
            <a:endParaRPr b="1" sz="3200">
              <a:solidFill>
                <a:srgbClr val="CC0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168" name="Google Shape;16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/>
          <p:nvPr>
            <p:ph idx="1" type="body"/>
          </p:nvPr>
        </p:nvSpPr>
        <p:spPr>
          <a:xfrm>
            <a:off x="838200" y="1825625"/>
            <a:ext cx="10515600" cy="29726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Serif"/>
              <a:buChar char="•"/>
            </a:pPr>
            <a:r>
              <a:rPr lang="en-IN" sz="2400">
                <a:latin typeface="Roboto Serif"/>
                <a:ea typeface="Roboto Serif"/>
                <a:cs typeface="Roboto Serif"/>
                <a:sym typeface="Roboto Serif"/>
              </a:rPr>
              <a:t>Depends on lighting conditions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Serif"/>
              <a:buChar char="•"/>
            </a:pPr>
            <a:r>
              <a:rPr lang="en-IN" sz="2400">
                <a:latin typeface="Roboto Serif"/>
                <a:ea typeface="Roboto Serif"/>
                <a:cs typeface="Roboto Serif"/>
                <a:sym typeface="Roboto Serif"/>
              </a:rPr>
              <a:t>Background noise may affect detection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Serif"/>
              <a:buChar char="•"/>
            </a:pPr>
            <a:r>
              <a:rPr lang="en-IN" sz="2400">
                <a:latin typeface="Roboto Serif"/>
                <a:ea typeface="Roboto Serif"/>
                <a:cs typeface="Roboto Serif"/>
                <a:sym typeface="Roboto Serif"/>
              </a:rPr>
              <a:t>Needs good camera quality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Serif"/>
              <a:buChar char="•"/>
            </a:pPr>
            <a:r>
              <a:rPr lang="en-IN" sz="2400">
                <a:latin typeface="Roboto Serif"/>
                <a:ea typeface="Roboto Serif"/>
                <a:cs typeface="Roboto Serif"/>
                <a:sym typeface="Roboto Serif"/>
              </a:rPr>
              <a:t>Slight delay in low-end systems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1758613" y="559198"/>
            <a:ext cx="8331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Times New Roman"/>
              <a:buNone/>
            </a:pPr>
            <a:r>
              <a:rPr b="1" lang="en-IN" sz="3200">
                <a:solidFill>
                  <a:srgbClr val="CC0000"/>
                </a:solidFill>
                <a:latin typeface="Roboto Serif"/>
                <a:ea typeface="Roboto Serif"/>
                <a:cs typeface="Roboto Serif"/>
                <a:sym typeface="Roboto Serif"/>
              </a:rPr>
              <a:t>LIMITATIONS</a:t>
            </a:r>
            <a:endParaRPr b="1" sz="3200">
              <a:solidFill>
                <a:srgbClr val="CC0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175" name="Google Shape;17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/>
        </p:nvSpPr>
        <p:spPr>
          <a:xfrm>
            <a:off x="838200" y="2077187"/>
            <a:ext cx="100686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Successfully built an </a:t>
            </a:r>
            <a:r>
              <a:rPr b="1" lang="en-IN" sz="24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Virtual Mouse and Keyboard </a:t>
            </a:r>
            <a:r>
              <a:rPr lang="en-IN" sz="24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using computer vision.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Serif"/>
              <a:buChar char="•"/>
            </a:pPr>
            <a:r>
              <a:rPr lang="en-IN" sz="24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Demonstrates practical application of hand tracking &amp; gesture recognition.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Serif"/>
              <a:buChar char="•"/>
            </a:pPr>
            <a:r>
              <a:rPr lang="en-IN" sz="24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Project shows real-time AI interaction with system hardware.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Serif"/>
              <a:buChar char="•"/>
            </a:pPr>
            <a:r>
              <a:rPr lang="en-IN" sz="2400">
                <a:solidFill>
                  <a:schemeClr val="dk1"/>
                </a:solidFill>
                <a:latin typeface="Roboto Serif"/>
                <a:ea typeface="Roboto Serif"/>
                <a:cs typeface="Roboto Serif"/>
                <a:sym typeface="Roboto Serif"/>
              </a:rPr>
              <a:t>Can be extended for smart systems and accessibility tools.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82" name="Google Shape;182;p26"/>
          <p:cNvSpPr txBox="1"/>
          <p:nvPr/>
        </p:nvSpPr>
        <p:spPr>
          <a:xfrm>
            <a:off x="1758613" y="559198"/>
            <a:ext cx="8331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200"/>
              <a:buFont typeface="Times New Roman"/>
              <a:buNone/>
            </a:pPr>
            <a:r>
              <a:rPr b="1" lang="en-IN" sz="3200">
                <a:solidFill>
                  <a:srgbClr val="CC0000"/>
                </a:solidFill>
                <a:latin typeface="Roboto Serif"/>
                <a:ea typeface="Roboto Serif"/>
                <a:cs typeface="Roboto Serif"/>
                <a:sym typeface="Roboto Serif"/>
              </a:rPr>
              <a:t>CONCLUSION</a:t>
            </a:r>
            <a:endParaRPr b="1" sz="3200">
              <a:solidFill>
                <a:srgbClr val="CC0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183" name="Google Shape;18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/>
          <p:nvPr/>
        </p:nvSpPr>
        <p:spPr>
          <a:xfrm>
            <a:off x="2141925" y="1908325"/>
            <a:ext cx="7473000" cy="27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600">
                <a:solidFill>
                  <a:srgbClr val="CC0000"/>
                </a:solidFill>
                <a:latin typeface="Roboto Serif Black"/>
                <a:ea typeface="Roboto Serif Black"/>
                <a:cs typeface="Roboto Serif Black"/>
                <a:sym typeface="Roboto Serif Black"/>
              </a:rPr>
              <a:t>THANK </a:t>
            </a:r>
            <a:endParaRPr sz="9600">
              <a:solidFill>
                <a:srgbClr val="CC0000"/>
              </a:solidFill>
              <a:latin typeface="Roboto Serif Black"/>
              <a:ea typeface="Roboto Serif Black"/>
              <a:cs typeface="Roboto Serif Black"/>
              <a:sym typeface="Roboto Serif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600">
                <a:solidFill>
                  <a:srgbClr val="CC0000"/>
                </a:solidFill>
                <a:latin typeface="Roboto Serif Black"/>
                <a:ea typeface="Roboto Serif Black"/>
                <a:cs typeface="Roboto Serif Black"/>
                <a:sym typeface="Roboto Serif Black"/>
              </a:rPr>
              <a:t>YOU</a:t>
            </a:r>
            <a:endParaRPr sz="9600">
              <a:solidFill>
                <a:srgbClr val="CC0000"/>
              </a:solidFill>
              <a:latin typeface="Roboto Serif Black"/>
              <a:ea typeface="Roboto Serif Black"/>
              <a:cs typeface="Roboto Serif Black"/>
              <a:sym typeface="Roboto Serif Black"/>
            </a:endParaRPr>
          </a:p>
        </p:txBody>
      </p:sp>
      <p:pic>
        <p:nvPicPr>
          <p:cNvPr id="189" name="Google Shape;18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899" cy="485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